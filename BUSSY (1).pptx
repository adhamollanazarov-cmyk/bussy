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aret Bold" charset="1" panose="00000000000000000000"/>
      <p:regular r:id="rId17"/>
    </p:embeddedFont>
    <p:embeddedFont>
      <p:font typeface="Garet" charset="1" panose="00000000000000000000"/>
      <p:regular r:id="rId18"/>
    </p:embeddedFont>
    <p:embeddedFont>
      <p:font typeface="Canva Sans" charset="1" panose="020B0503030501040103"/>
      <p:regular r:id="rId19"/>
    </p:embeddedFont>
    <p:embeddedFont>
      <p:font typeface="Arial MT Pro Bold" charset="1" panose="020B0802020202020204"/>
      <p:regular r:id="rId20"/>
    </p:embeddedFont>
    <p:embeddedFont>
      <p:font typeface="Canva Sans Bold" charset="1" panose="020B0803030501040103"/>
      <p:regular r:id="rId21"/>
    </p:embeddedFont>
    <p:embeddedFont>
      <p:font typeface="Intro" charset="1" panose="02000000000000000000"/>
      <p:regular r:id="rId22"/>
    </p:embeddedFont>
    <p:embeddedFont>
      <p:font typeface="Arimo" charset="1" panose="020B0604020202020204"/>
      <p:regular r:id="rId23"/>
    </p:embeddedFont>
    <p:embeddedFont>
      <p:font typeface="Open Sauce Bold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22.png" Type="http://schemas.openxmlformats.org/officeDocument/2006/relationships/image"/><Relationship Id="rId4" Target="../media/image23.jpeg" Type="http://schemas.openxmlformats.org/officeDocument/2006/relationships/image"/><Relationship Id="rId5" Target="../media/image24.jpeg" Type="http://schemas.openxmlformats.org/officeDocument/2006/relationships/image"/><Relationship Id="rId6" Target="../media/image25.jpeg" Type="http://schemas.openxmlformats.org/officeDocument/2006/relationships/image"/><Relationship Id="rId7" Target="../media/image2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36" t="-21857" r="-7540" b="-1429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90121" y="8486240"/>
            <a:ext cx="2869379" cy="767356"/>
            <a:chOff x="0" y="0"/>
            <a:chExt cx="1071104" cy="2864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71104" cy="286444"/>
            </a:xfrm>
            <a:custGeom>
              <a:avLst/>
              <a:gdLst/>
              <a:ahLst/>
              <a:cxnLst/>
              <a:rect r="r" b="b" t="t" l="l"/>
              <a:pathLst>
                <a:path h="286444" w="1071104">
                  <a:moveTo>
                    <a:pt x="143222" y="0"/>
                  </a:moveTo>
                  <a:lnTo>
                    <a:pt x="927882" y="0"/>
                  </a:lnTo>
                  <a:cubicBezTo>
                    <a:pt x="965866" y="0"/>
                    <a:pt x="1002296" y="15089"/>
                    <a:pt x="1029155" y="41949"/>
                  </a:cubicBezTo>
                  <a:cubicBezTo>
                    <a:pt x="1056014" y="68808"/>
                    <a:pt x="1071104" y="105237"/>
                    <a:pt x="1071104" y="143222"/>
                  </a:cubicBezTo>
                  <a:lnTo>
                    <a:pt x="1071104" y="143222"/>
                  </a:lnTo>
                  <a:cubicBezTo>
                    <a:pt x="1071104" y="222322"/>
                    <a:pt x="1006981" y="286444"/>
                    <a:pt x="927882" y="286444"/>
                  </a:cubicBezTo>
                  <a:lnTo>
                    <a:pt x="143222" y="286444"/>
                  </a:lnTo>
                  <a:cubicBezTo>
                    <a:pt x="64123" y="286444"/>
                    <a:pt x="0" y="222322"/>
                    <a:pt x="0" y="143222"/>
                  </a:cubicBezTo>
                  <a:lnTo>
                    <a:pt x="0" y="143222"/>
                  </a:lnTo>
                  <a:cubicBezTo>
                    <a:pt x="0" y="64123"/>
                    <a:pt x="64123" y="0"/>
                    <a:pt x="143222" y="0"/>
                  </a:cubicBezTo>
                  <a:close/>
                </a:path>
              </a:pathLst>
            </a:custGeom>
            <a:solidFill>
              <a:srgbClr val="033A7F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71104" cy="324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410986" y="8490944"/>
            <a:ext cx="4848314" cy="767356"/>
            <a:chOff x="0" y="0"/>
            <a:chExt cx="1809815" cy="2864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9815" cy="286444"/>
            </a:xfrm>
            <a:custGeom>
              <a:avLst/>
              <a:gdLst/>
              <a:ahLst/>
              <a:cxnLst/>
              <a:rect r="r" b="b" t="t" l="l"/>
              <a:pathLst>
                <a:path h="286444" w="1809815">
                  <a:moveTo>
                    <a:pt x="105391" y="0"/>
                  </a:moveTo>
                  <a:lnTo>
                    <a:pt x="1704425" y="0"/>
                  </a:lnTo>
                  <a:cubicBezTo>
                    <a:pt x="1732376" y="0"/>
                    <a:pt x="1759183" y="11104"/>
                    <a:pt x="1778947" y="30868"/>
                  </a:cubicBezTo>
                  <a:cubicBezTo>
                    <a:pt x="1798712" y="50633"/>
                    <a:pt x="1809815" y="77439"/>
                    <a:pt x="1809815" y="105391"/>
                  </a:cubicBezTo>
                  <a:lnTo>
                    <a:pt x="1809815" y="181054"/>
                  </a:lnTo>
                  <a:cubicBezTo>
                    <a:pt x="1809815" y="209005"/>
                    <a:pt x="1798712" y="235812"/>
                    <a:pt x="1778947" y="255576"/>
                  </a:cubicBezTo>
                  <a:cubicBezTo>
                    <a:pt x="1759183" y="275341"/>
                    <a:pt x="1732376" y="286444"/>
                    <a:pt x="1704425" y="286444"/>
                  </a:cubicBezTo>
                  <a:lnTo>
                    <a:pt x="105391" y="286444"/>
                  </a:lnTo>
                  <a:cubicBezTo>
                    <a:pt x="77439" y="286444"/>
                    <a:pt x="50633" y="275341"/>
                    <a:pt x="30868" y="255576"/>
                  </a:cubicBezTo>
                  <a:cubicBezTo>
                    <a:pt x="11104" y="235812"/>
                    <a:pt x="0" y="209005"/>
                    <a:pt x="0" y="181054"/>
                  </a:cubicBezTo>
                  <a:lnTo>
                    <a:pt x="0" y="105391"/>
                  </a:lnTo>
                  <a:cubicBezTo>
                    <a:pt x="0" y="77439"/>
                    <a:pt x="11104" y="50633"/>
                    <a:pt x="30868" y="30868"/>
                  </a:cubicBezTo>
                  <a:cubicBezTo>
                    <a:pt x="50633" y="11104"/>
                    <a:pt x="77439" y="0"/>
                    <a:pt x="105391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09815" cy="324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879898" y="2870918"/>
            <a:ext cx="10565021" cy="260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918"/>
              </a:lnSpc>
            </a:pPr>
            <a:r>
              <a:rPr lang="en-US" b="true" sz="21020" spc="-126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BUSSY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10986" y="8718231"/>
            <a:ext cx="4848314" cy="407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9"/>
              </a:lnSpc>
            </a:pPr>
            <a:r>
              <a:rPr lang="en-US" sz="3255" spc="-195">
                <a:solidFill>
                  <a:srgbClr val="86B9F5"/>
                </a:solidFill>
                <a:latin typeface="Garet"/>
                <a:ea typeface="Garet"/>
                <a:cs typeface="Garet"/>
                <a:sym typeface="Garet"/>
              </a:rPr>
              <a:t>Turkiston jamoasi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79570" y="5250847"/>
            <a:ext cx="8399003" cy="75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1"/>
              </a:lnSpc>
              <a:spcBef>
                <a:spcPct val="0"/>
              </a:spcBef>
            </a:pPr>
            <a:r>
              <a:rPr lang="en-US" sz="44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AI-powered Business Manager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18682" r="-51459" b="-609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75217" y="513236"/>
            <a:ext cx="11857603" cy="140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76"/>
              </a:lnSpc>
            </a:pPr>
            <a:r>
              <a:rPr lang="en-US" b="true" sz="11418" spc="-685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Muammo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06830" y="2081768"/>
            <a:ext cx="4452470" cy="6303037"/>
            <a:chOff x="0" y="0"/>
            <a:chExt cx="1044510" cy="14786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4510" cy="1478637"/>
            </a:xfrm>
            <a:custGeom>
              <a:avLst/>
              <a:gdLst/>
              <a:ahLst/>
              <a:cxnLst/>
              <a:rect r="r" b="b" t="t" l="l"/>
              <a:pathLst>
                <a:path h="1478637" w="1044510">
                  <a:moveTo>
                    <a:pt x="39992" y="0"/>
                  </a:moveTo>
                  <a:lnTo>
                    <a:pt x="1004518" y="0"/>
                  </a:lnTo>
                  <a:cubicBezTo>
                    <a:pt x="1015125" y="0"/>
                    <a:pt x="1025297" y="4213"/>
                    <a:pt x="1032797" y="11713"/>
                  </a:cubicBezTo>
                  <a:cubicBezTo>
                    <a:pt x="1040297" y="19213"/>
                    <a:pt x="1044510" y="29386"/>
                    <a:pt x="1044510" y="39992"/>
                  </a:cubicBezTo>
                  <a:lnTo>
                    <a:pt x="1044510" y="1438645"/>
                  </a:lnTo>
                  <a:cubicBezTo>
                    <a:pt x="1044510" y="1449251"/>
                    <a:pt x="1040297" y="1459423"/>
                    <a:pt x="1032797" y="1466923"/>
                  </a:cubicBezTo>
                  <a:cubicBezTo>
                    <a:pt x="1025297" y="1474423"/>
                    <a:pt x="1015125" y="1478637"/>
                    <a:pt x="1004518" y="1478637"/>
                  </a:cubicBezTo>
                  <a:lnTo>
                    <a:pt x="39992" y="1478637"/>
                  </a:lnTo>
                  <a:cubicBezTo>
                    <a:pt x="17905" y="1478637"/>
                    <a:pt x="0" y="1460732"/>
                    <a:pt x="0" y="1438645"/>
                  </a:cubicBezTo>
                  <a:lnTo>
                    <a:pt x="0" y="39992"/>
                  </a:lnTo>
                  <a:cubicBezTo>
                    <a:pt x="0" y="29386"/>
                    <a:pt x="4213" y="19213"/>
                    <a:pt x="11713" y="11713"/>
                  </a:cubicBezTo>
                  <a:cubicBezTo>
                    <a:pt x="19213" y="4213"/>
                    <a:pt x="29386" y="0"/>
                    <a:pt x="39992" y="0"/>
                  </a:cubicBezTo>
                  <a:close/>
                </a:path>
              </a:pathLst>
            </a:custGeom>
            <a:blipFill>
              <a:blip r:embed="rId3"/>
              <a:stretch>
                <a:fillRect l="-55912" t="0" r="-55912" b="0"/>
              </a:stretch>
            </a:blipFill>
            <a:ln w="3810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C8C8C8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810644" y="4062845"/>
            <a:ext cx="4023411" cy="4991040"/>
            <a:chOff x="0" y="0"/>
            <a:chExt cx="903521" cy="11208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3521" cy="1120818"/>
            </a:xfrm>
            <a:custGeom>
              <a:avLst/>
              <a:gdLst/>
              <a:ahLst/>
              <a:cxnLst/>
              <a:rect r="r" b="b" t="t" l="l"/>
              <a:pathLst>
                <a:path h="1120818" w="903521">
                  <a:moveTo>
                    <a:pt x="44257" y="0"/>
                  </a:moveTo>
                  <a:lnTo>
                    <a:pt x="859264" y="0"/>
                  </a:lnTo>
                  <a:cubicBezTo>
                    <a:pt x="883706" y="0"/>
                    <a:pt x="903521" y="19815"/>
                    <a:pt x="903521" y="44257"/>
                  </a:cubicBezTo>
                  <a:lnTo>
                    <a:pt x="903521" y="1076561"/>
                  </a:lnTo>
                  <a:cubicBezTo>
                    <a:pt x="903521" y="1101003"/>
                    <a:pt x="883706" y="1120818"/>
                    <a:pt x="859264" y="1120818"/>
                  </a:cubicBezTo>
                  <a:lnTo>
                    <a:pt x="44257" y="1120818"/>
                  </a:lnTo>
                  <a:cubicBezTo>
                    <a:pt x="19815" y="1120818"/>
                    <a:pt x="0" y="1101003"/>
                    <a:pt x="0" y="1076561"/>
                  </a:cubicBezTo>
                  <a:lnTo>
                    <a:pt x="0" y="44257"/>
                  </a:lnTo>
                  <a:cubicBezTo>
                    <a:pt x="0" y="19815"/>
                    <a:pt x="19815" y="0"/>
                    <a:pt x="44257" y="0"/>
                  </a:cubicBezTo>
                  <a:close/>
                </a:path>
              </a:pathLst>
            </a:custGeom>
            <a:blipFill>
              <a:blip r:embed="rId4"/>
              <a:stretch>
                <a:fillRect l="-59962" t="0" r="-26228" b="0"/>
              </a:stretch>
            </a:blipFill>
            <a:ln w="3810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C8C8C8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359899" y="4062845"/>
            <a:ext cx="390700" cy="398940"/>
            <a:chOff x="0" y="0"/>
            <a:chExt cx="812800" cy="8299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29943"/>
            </a:xfrm>
            <a:custGeom>
              <a:avLst/>
              <a:gdLst/>
              <a:ahLst/>
              <a:cxnLst/>
              <a:rect r="r" b="b" t="t" l="l"/>
              <a:pathLst>
                <a:path h="829943" w="812800">
                  <a:moveTo>
                    <a:pt x="406400" y="0"/>
                  </a:moveTo>
                  <a:cubicBezTo>
                    <a:pt x="181951" y="0"/>
                    <a:pt x="0" y="185789"/>
                    <a:pt x="0" y="414972"/>
                  </a:cubicBezTo>
                  <a:cubicBezTo>
                    <a:pt x="0" y="644154"/>
                    <a:pt x="181951" y="829943"/>
                    <a:pt x="406400" y="829943"/>
                  </a:cubicBezTo>
                  <a:cubicBezTo>
                    <a:pt x="630849" y="829943"/>
                    <a:pt x="812800" y="644154"/>
                    <a:pt x="812800" y="414972"/>
                  </a:cubicBezTo>
                  <a:cubicBezTo>
                    <a:pt x="812800" y="18578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9707"/>
              <a:ext cx="660400" cy="712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939020"/>
            <a:ext cx="6655486" cy="1288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3600" spc="-8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Biznes-reja tuzish murakkab</a:t>
            </a:r>
          </a:p>
          <a:p>
            <a:pPr algn="l">
              <a:lnSpc>
                <a:spcPts val="4896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849062"/>
            <a:ext cx="7093033" cy="669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3600" spc="-8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Kredit olish jarayoni tushunarsiz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099937"/>
            <a:ext cx="9021786" cy="1926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3"/>
              </a:lnSpc>
            </a:pPr>
          </a:p>
          <a:p>
            <a:pPr algn="l">
              <a:lnSpc>
                <a:spcPts val="4896"/>
              </a:lnSpc>
            </a:pPr>
            <a:r>
              <a:rPr lang="en-US" b="true" sz="3600" spc="-8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Soliq va majburiy to‘lovlar bo‘yicha noaniqlik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70379" y="2574744"/>
            <a:ext cx="9936451" cy="117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9"/>
              </a:lnSpc>
            </a:pPr>
            <a:r>
              <a:rPr lang="en-US" b="true" sz="2242" spc="-1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Kichik va o‘rta biznes (KOB) tadbirkorlarida moliyaviy bilim va amaliy ko‘nikmalar yetishmasligi sabab:</a:t>
            </a:r>
          </a:p>
          <a:p>
            <a:pPr algn="ctr">
              <a:lnSpc>
                <a:spcPts val="313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123173"/>
            <a:ext cx="7006471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Bozor haqida yetarli ma’lumot yo‘q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59899" y="4944030"/>
            <a:ext cx="390700" cy="398940"/>
            <a:chOff x="0" y="0"/>
            <a:chExt cx="812800" cy="8299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29943"/>
            </a:xfrm>
            <a:custGeom>
              <a:avLst/>
              <a:gdLst/>
              <a:ahLst/>
              <a:cxnLst/>
              <a:rect r="r" b="b" t="t" l="l"/>
              <a:pathLst>
                <a:path h="829943" w="812800">
                  <a:moveTo>
                    <a:pt x="406400" y="0"/>
                  </a:moveTo>
                  <a:cubicBezTo>
                    <a:pt x="181951" y="0"/>
                    <a:pt x="0" y="185789"/>
                    <a:pt x="0" y="414972"/>
                  </a:cubicBezTo>
                  <a:cubicBezTo>
                    <a:pt x="0" y="644154"/>
                    <a:pt x="181951" y="829943"/>
                    <a:pt x="406400" y="829943"/>
                  </a:cubicBezTo>
                  <a:cubicBezTo>
                    <a:pt x="630849" y="829943"/>
                    <a:pt x="812800" y="644154"/>
                    <a:pt x="812800" y="414972"/>
                  </a:cubicBezTo>
                  <a:cubicBezTo>
                    <a:pt x="812800" y="18578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9707"/>
              <a:ext cx="660400" cy="712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59899" y="5825215"/>
            <a:ext cx="390700" cy="398940"/>
            <a:chOff x="0" y="0"/>
            <a:chExt cx="812800" cy="8299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29943"/>
            </a:xfrm>
            <a:custGeom>
              <a:avLst/>
              <a:gdLst/>
              <a:ahLst/>
              <a:cxnLst/>
              <a:rect r="r" b="b" t="t" l="l"/>
              <a:pathLst>
                <a:path h="829943" w="812800">
                  <a:moveTo>
                    <a:pt x="406400" y="0"/>
                  </a:moveTo>
                  <a:cubicBezTo>
                    <a:pt x="181951" y="0"/>
                    <a:pt x="0" y="185789"/>
                    <a:pt x="0" y="414972"/>
                  </a:cubicBezTo>
                  <a:cubicBezTo>
                    <a:pt x="0" y="644154"/>
                    <a:pt x="181951" y="829943"/>
                    <a:pt x="406400" y="829943"/>
                  </a:cubicBezTo>
                  <a:cubicBezTo>
                    <a:pt x="630849" y="829943"/>
                    <a:pt x="812800" y="644154"/>
                    <a:pt x="812800" y="414972"/>
                  </a:cubicBezTo>
                  <a:cubicBezTo>
                    <a:pt x="812800" y="18578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9707"/>
              <a:ext cx="660400" cy="712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59899" y="7189848"/>
            <a:ext cx="390700" cy="398940"/>
            <a:chOff x="0" y="0"/>
            <a:chExt cx="812800" cy="82994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29943"/>
            </a:xfrm>
            <a:custGeom>
              <a:avLst/>
              <a:gdLst/>
              <a:ahLst/>
              <a:cxnLst/>
              <a:rect r="r" b="b" t="t" l="l"/>
              <a:pathLst>
                <a:path h="829943" w="812800">
                  <a:moveTo>
                    <a:pt x="406400" y="0"/>
                  </a:moveTo>
                  <a:cubicBezTo>
                    <a:pt x="181951" y="0"/>
                    <a:pt x="0" y="185789"/>
                    <a:pt x="0" y="414972"/>
                  </a:cubicBezTo>
                  <a:cubicBezTo>
                    <a:pt x="0" y="644154"/>
                    <a:pt x="181951" y="829943"/>
                    <a:pt x="406400" y="829943"/>
                  </a:cubicBezTo>
                  <a:cubicBezTo>
                    <a:pt x="630849" y="829943"/>
                    <a:pt x="812800" y="644154"/>
                    <a:pt x="812800" y="414972"/>
                  </a:cubicBezTo>
                  <a:cubicBezTo>
                    <a:pt x="812800" y="18578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9707"/>
              <a:ext cx="660400" cy="712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18682" r="-51459" b="-609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57224" y="352316"/>
            <a:ext cx="14373552" cy="9582368"/>
          </a:xfrm>
          <a:custGeom>
            <a:avLst/>
            <a:gdLst/>
            <a:ahLst/>
            <a:cxnLst/>
            <a:rect r="r" b="b" t="t" l="l"/>
            <a:pathLst>
              <a:path h="9582368" w="14373552">
                <a:moveTo>
                  <a:pt x="0" y="0"/>
                </a:moveTo>
                <a:lnTo>
                  <a:pt x="14373552" y="0"/>
                </a:lnTo>
                <a:lnTo>
                  <a:pt x="14373552" y="9582368"/>
                </a:lnTo>
                <a:lnTo>
                  <a:pt x="0" y="95823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44" r="0" b="-34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08029" y="3384163"/>
            <a:ext cx="588816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  <a:spcBef>
                <a:spcPct val="0"/>
              </a:spcBef>
            </a:pPr>
            <a:r>
              <a:rPr lang="en-US" sz="1200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BUSSY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663700" y="2433186"/>
            <a:ext cx="3754270" cy="3754270"/>
          </a:xfrm>
          <a:custGeom>
            <a:avLst/>
            <a:gdLst/>
            <a:ahLst/>
            <a:cxnLst/>
            <a:rect r="r" b="b" t="t" l="l"/>
            <a:pathLst>
              <a:path h="3754270" w="3754270">
                <a:moveTo>
                  <a:pt x="0" y="0"/>
                </a:moveTo>
                <a:lnTo>
                  <a:pt x="3754270" y="0"/>
                </a:lnTo>
                <a:lnTo>
                  <a:pt x="3754270" y="3754270"/>
                </a:lnTo>
                <a:lnTo>
                  <a:pt x="0" y="37542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62061" y="1190625"/>
            <a:ext cx="16038992" cy="80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9"/>
              </a:lnSpc>
            </a:pPr>
            <a:r>
              <a:rPr lang="en-US" sz="6399" spc="-383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Intro"/>
                <a:ea typeface="Intro"/>
                <a:cs typeface="Intro"/>
                <a:sym typeface="Intro"/>
              </a:rPr>
              <a:t>Bizning  Innovative  yechim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62061" y="6568456"/>
            <a:ext cx="11803979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-16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O‘zbekistonning kichik va o‘rta bizneslari uchun moliyaviy tahlil, soliq, kredit va sug‘urta masalalarini AI yordamida soddalashtirib, biznes uchun to‘g‘ri qarorlar qabul qilishga yordam berish.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11" r="0" b="-9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0095" y="1920424"/>
            <a:ext cx="15642281" cy="5852030"/>
          </a:xfrm>
          <a:custGeom>
            <a:avLst/>
            <a:gdLst/>
            <a:ahLst/>
            <a:cxnLst/>
            <a:rect r="r" b="b" t="t" l="l"/>
            <a:pathLst>
              <a:path h="5852030" w="15642281">
                <a:moveTo>
                  <a:pt x="0" y="0"/>
                </a:moveTo>
                <a:lnTo>
                  <a:pt x="15642281" y="0"/>
                </a:lnTo>
                <a:lnTo>
                  <a:pt x="15642281" y="5852030"/>
                </a:lnTo>
                <a:lnTo>
                  <a:pt x="0" y="58520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2947" r="0" b="-1740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67370" y="361491"/>
            <a:ext cx="12403774" cy="115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3"/>
              </a:lnSpc>
            </a:pPr>
            <a:r>
              <a:rPr lang="en-US" b="true" sz="9326" spc="-55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Bizning afzalliklarimiz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0095" y="8091247"/>
            <a:ext cx="15267810" cy="169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spc="-19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Bizning boshqalardan asosiy farqimiz - O‘zbekiston bozori va qonunchiligiga moslashtirilgan AI platforma bo‘lib, biznes ma’lumotlarini tahlil qilib, mahalliy soliq, moliya va bozor sharoitiga mos individual tavsiyalar beradi.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463" t="0" r="-17246" b="-609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3317893"/>
            <a:ext cx="5557387" cy="6209371"/>
          </a:xfrm>
          <a:custGeom>
            <a:avLst/>
            <a:gdLst/>
            <a:ahLst/>
            <a:cxnLst/>
            <a:rect r="r" b="b" t="t" l="l"/>
            <a:pathLst>
              <a:path h="6209371" w="5557387">
                <a:moveTo>
                  <a:pt x="0" y="0"/>
                </a:moveTo>
                <a:lnTo>
                  <a:pt x="5557387" y="0"/>
                </a:lnTo>
                <a:lnTo>
                  <a:pt x="5557387" y="6209370"/>
                </a:lnTo>
                <a:lnTo>
                  <a:pt x="0" y="62093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3593" y="0"/>
            <a:ext cx="20429022" cy="10086000"/>
          </a:xfrm>
          <a:custGeom>
            <a:avLst/>
            <a:gdLst/>
            <a:ahLst/>
            <a:cxnLst/>
            <a:rect r="r" b="b" t="t" l="l"/>
            <a:pathLst>
              <a:path h="10086000" w="20429022">
                <a:moveTo>
                  <a:pt x="0" y="0"/>
                </a:moveTo>
                <a:lnTo>
                  <a:pt x="20429022" y="0"/>
                </a:lnTo>
                <a:lnTo>
                  <a:pt x="20429022" y="10086000"/>
                </a:lnTo>
                <a:lnTo>
                  <a:pt x="0" y="10086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18" t="0" r="-6699" b="-194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44" r="0" b="-3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34538" y="58443"/>
            <a:ext cx="10853521" cy="10693387"/>
          </a:xfrm>
          <a:custGeom>
            <a:avLst/>
            <a:gdLst/>
            <a:ahLst/>
            <a:cxnLst/>
            <a:rect r="r" b="b" t="t" l="l"/>
            <a:pathLst>
              <a:path h="10693387" w="10853521">
                <a:moveTo>
                  <a:pt x="0" y="0"/>
                </a:moveTo>
                <a:lnTo>
                  <a:pt x="10853521" y="0"/>
                </a:lnTo>
                <a:lnTo>
                  <a:pt x="10853521" y="10693388"/>
                </a:lnTo>
                <a:lnTo>
                  <a:pt x="0" y="106933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" t="-766" r="0" b="-76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908943"/>
            <a:ext cx="8784444" cy="8784444"/>
          </a:xfrm>
          <a:custGeom>
            <a:avLst/>
            <a:gdLst/>
            <a:ahLst/>
            <a:cxnLst/>
            <a:rect r="r" b="b" t="t" l="l"/>
            <a:pathLst>
              <a:path h="8784444" w="8784444">
                <a:moveTo>
                  <a:pt x="0" y="0"/>
                </a:moveTo>
                <a:lnTo>
                  <a:pt x="8784444" y="0"/>
                </a:lnTo>
                <a:lnTo>
                  <a:pt x="8784444" y="8784444"/>
                </a:lnTo>
                <a:lnTo>
                  <a:pt x="0" y="8784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4188304"/>
            <a:ext cx="6505083" cy="6505083"/>
          </a:xfrm>
          <a:custGeom>
            <a:avLst/>
            <a:gdLst/>
            <a:ahLst/>
            <a:cxnLst/>
            <a:rect r="r" b="b" t="t" l="l"/>
            <a:pathLst>
              <a:path h="6505083" w="6505083">
                <a:moveTo>
                  <a:pt x="0" y="0"/>
                </a:moveTo>
                <a:lnTo>
                  <a:pt x="6505083" y="0"/>
                </a:lnTo>
                <a:lnTo>
                  <a:pt x="6505083" y="6505083"/>
                </a:lnTo>
                <a:lnTo>
                  <a:pt x="0" y="65050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29827" y="519055"/>
            <a:ext cx="7315200" cy="2779776"/>
          </a:xfrm>
          <a:custGeom>
            <a:avLst/>
            <a:gdLst/>
            <a:ahLst/>
            <a:cxnLst/>
            <a:rect r="r" b="b" t="t" l="l"/>
            <a:pathLst>
              <a:path h="2779776" w="7315200">
                <a:moveTo>
                  <a:pt x="0" y="0"/>
                </a:moveTo>
                <a:lnTo>
                  <a:pt x="7315200" y="0"/>
                </a:lnTo>
                <a:lnTo>
                  <a:pt x="7315200" y="2779776"/>
                </a:lnTo>
                <a:lnTo>
                  <a:pt x="0" y="27797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7632" y="2306365"/>
            <a:ext cx="3014027" cy="1881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16"/>
              </a:lnSpc>
              <a:spcBef>
                <a:spcPct val="0"/>
              </a:spcBef>
            </a:pPr>
            <a:r>
              <a:rPr lang="en-US" b="true" sz="11011" spc="-66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8265" y="6072565"/>
            <a:ext cx="3323186" cy="201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42"/>
              </a:lnSpc>
              <a:spcBef>
                <a:spcPct val="0"/>
              </a:spcBef>
            </a:pPr>
            <a:r>
              <a:rPr lang="en-US" b="true" sz="11744" spc="-70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24440" y="-179682"/>
            <a:ext cx="3247219" cy="2178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88"/>
              </a:lnSpc>
              <a:spcBef>
                <a:spcPct val="0"/>
              </a:spcBef>
            </a:pPr>
            <a:r>
              <a:rPr lang="en-US" b="true" sz="12777" spc="-76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18983" y="826731"/>
            <a:ext cx="7563991" cy="210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  <a:spcBef>
                <a:spcPct val="0"/>
              </a:spcBef>
            </a:pPr>
            <a:r>
              <a:rPr lang="en-US" b="true" sz="2998" spc="-17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KOB subyektlari: 1 .2 M</a:t>
            </a:r>
          </a:p>
          <a:p>
            <a:pPr algn="ctr">
              <a:lnSpc>
                <a:spcPts val="4198"/>
              </a:lnSpc>
              <a:spcBef>
                <a:spcPct val="0"/>
              </a:spcBef>
            </a:pPr>
            <a:r>
              <a:rPr lang="en-US" b="true" sz="2998" spc="-17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Standart oylik to'lovimiz: $20/oy × 12 = $240/yil</a:t>
            </a:r>
          </a:p>
          <a:p>
            <a:pPr algn="ctr">
              <a:lnSpc>
                <a:spcPts val="4198"/>
              </a:lnSpc>
              <a:spcBef>
                <a:spcPct val="0"/>
              </a:spcBef>
            </a:pPr>
            <a:r>
              <a:rPr lang="en-US" b="true" sz="2998" spc="-17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TAM = 1 .2M× $240 ≈ $296,7 mln/yil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229827" y="3868076"/>
            <a:ext cx="7315200" cy="2779776"/>
          </a:xfrm>
          <a:custGeom>
            <a:avLst/>
            <a:gdLst/>
            <a:ahLst/>
            <a:cxnLst/>
            <a:rect r="r" b="b" t="t" l="l"/>
            <a:pathLst>
              <a:path h="2779776" w="7315200">
                <a:moveTo>
                  <a:pt x="0" y="0"/>
                </a:moveTo>
                <a:lnTo>
                  <a:pt x="7315200" y="0"/>
                </a:lnTo>
                <a:lnTo>
                  <a:pt x="7315200" y="2779776"/>
                </a:lnTo>
                <a:lnTo>
                  <a:pt x="0" y="27797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29827" y="7194311"/>
            <a:ext cx="7315200" cy="2779776"/>
          </a:xfrm>
          <a:custGeom>
            <a:avLst/>
            <a:gdLst/>
            <a:ahLst/>
            <a:cxnLst/>
            <a:rect r="r" b="b" t="t" l="l"/>
            <a:pathLst>
              <a:path h="2779776" w="7315200">
                <a:moveTo>
                  <a:pt x="0" y="0"/>
                </a:moveTo>
                <a:lnTo>
                  <a:pt x="7315200" y="0"/>
                </a:lnTo>
                <a:lnTo>
                  <a:pt x="7315200" y="2779776"/>
                </a:lnTo>
                <a:lnTo>
                  <a:pt x="0" y="27797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570653" y="3852716"/>
            <a:ext cx="6620398" cy="2730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7"/>
              </a:lnSpc>
              <a:spcBef>
                <a:spcPct val="0"/>
              </a:spcBef>
            </a:pPr>
            <a:r>
              <a:rPr lang="en-US" b="true" sz="3105" spc="-18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Yosh tadbirkorlar va biznesmenlar: ~430 000 ta </a:t>
            </a:r>
          </a:p>
          <a:p>
            <a:pPr algn="ctr">
              <a:lnSpc>
                <a:spcPts val="4347"/>
              </a:lnSpc>
              <a:spcBef>
                <a:spcPct val="0"/>
              </a:spcBef>
            </a:pPr>
            <a:r>
              <a:rPr lang="en-US" b="true" sz="3105" spc="-18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 KOB~35%)</a:t>
            </a:r>
          </a:p>
          <a:p>
            <a:pPr algn="ctr">
              <a:lnSpc>
                <a:spcPts val="4347"/>
              </a:lnSpc>
              <a:spcBef>
                <a:spcPct val="0"/>
              </a:spcBef>
            </a:pPr>
            <a:r>
              <a:rPr lang="en-US" b="true" sz="3105" spc="-18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SAM = 430 000 × $240 ≈ $103,2 mln/yil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70653" y="7857527"/>
            <a:ext cx="6812321" cy="1764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9"/>
              </a:lnSpc>
              <a:spcBef>
                <a:spcPct val="0"/>
              </a:spcBef>
            </a:pPr>
            <a:r>
              <a:rPr lang="en-US" b="true" sz="3420" spc="-20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Dastlabki bozor: ~3 000 ta  mijoz</a:t>
            </a:r>
          </a:p>
          <a:p>
            <a:pPr algn="ctr">
              <a:lnSpc>
                <a:spcPts val="4789"/>
              </a:lnSpc>
              <a:spcBef>
                <a:spcPct val="0"/>
              </a:spcBef>
            </a:pPr>
            <a:r>
              <a:rPr lang="en-US" b="true" sz="3420" spc="-20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SOM = 3 000 × $240 = $720 000/yil 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44" r="0" b="-3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01685" y="1028700"/>
            <a:ext cx="13884629" cy="7810104"/>
          </a:xfrm>
          <a:custGeom>
            <a:avLst/>
            <a:gdLst/>
            <a:ahLst/>
            <a:cxnLst/>
            <a:rect r="r" b="b" t="t" l="l"/>
            <a:pathLst>
              <a:path h="7810104" w="13884629">
                <a:moveTo>
                  <a:pt x="0" y="0"/>
                </a:moveTo>
                <a:lnTo>
                  <a:pt x="13884630" y="0"/>
                </a:lnTo>
                <a:lnTo>
                  <a:pt x="13884630" y="7810104"/>
                </a:lnTo>
                <a:lnTo>
                  <a:pt x="0" y="78101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7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9772214"/>
          </a:xfrm>
          <a:custGeom>
            <a:avLst/>
            <a:gdLst/>
            <a:ahLst/>
            <a:cxnLst/>
            <a:rect r="r" b="b" t="t" l="l"/>
            <a:pathLst>
              <a:path h="9772214" w="18288000">
                <a:moveTo>
                  <a:pt x="0" y="0"/>
                </a:moveTo>
                <a:lnTo>
                  <a:pt x="18288000" y="0"/>
                </a:lnTo>
                <a:lnTo>
                  <a:pt x="18288000" y="9772214"/>
                </a:lnTo>
                <a:lnTo>
                  <a:pt x="0" y="9772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3851" r="-35710" b="-5713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437557" cy="1437557"/>
          </a:xfrm>
          <a:custGeom>
            <a:avLst/>
            <a:gdLst/>
            <a:ahLst/>
            <a:cxnLst/>
            <a:rect r="r" b="b" t="t" l="l"/>
            <a:pathLst>
              <a:path h="1437557" w="1437557">
                <a:moveTo>
                  <a:pt x="0" y="0"/>
                </a:moveTo>
                <a:lnTo>
                  <a:pt x="1437557" y="0"/>
                </a:lnTo>
                <a:lnTo>
                  <a:pt x="1437557" y="1437557"/>
                </a:lnTo>
                <a:lnTo>
                  <a:pt x="0" y="14375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17606" y="3799467"/>
            <a:ext cx="2688066" cy="2688066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810000" y="6350000"/>
                  </a:moveTo>
                  <a:lnTo>
                    <a:pt x="2540000" y="6350000"/>
                  </a:lnTo>
                  <a:cubicBezTo>
                    <a:pt x="1136650" y="6350000"/>
                    <a:pt x="0" y="5213350"/>
                    <a:pt x="0" y="3810000"/>
                  </a:cubicBezTo>
                  <a:lnTo>
                    <a:pt x="0" y="2540000"/>
                  </a:lnTo>
                  <a:cubicBezTo>
                    <a:pt x="0" y="1136650"/>
                    <a:pt x="1136650" y="0"/>
                    <a:pt x="2540000" y="0"/>
                  </a:cubicBezTo>
                  <a:lnTo>
                    <a:pt x="3810000" y="0"/>
                  </a:lnTo>
                  <a:cubicBezTo>
                    <a:pt x="5213350" y="0"/>
                    <a:pt x="6350000" y="1136650"/>
                    <a:pt x="6350000" y="2540000"/>
                  </a:cubicBezTo>
                  <a:lnTo>
                    <a:pt x="6350000" y="3810000"/>
                  </a:lnTo>
                  <a:cubicBezTo>
                    <a:pt x="6350000" y="5213350"/>
                    <a:pt x="5213350" y="6350000"/>
                    <a:pt x="38100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19928" t="-57631" r="-16474" b="-242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08120" y="3799467"/>
            <a:ext cx="2688066" cy="2688066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810000" y="6350000"/>
                  </a:moveTo>
                  <a:lnTo>
                    <a:pt x="2540000" y="6350000"/>
                  </a:lnTo>
                  <a:cubicBezTo>
                    <a:pt x="1136650" y="6350000"/>
                    <a:pt x="0" y="5213350"/>
                    <a:pt x="0" y="3810000"/>
                  </a:cubicBezTo>
                  <a:lnTo>
                    <a:pt x="0" y="2540000"/>
                  </a:lnTo>
                  <a:cubicBezTo>
                    <a:pt x="0" y="1136650"/>
                    <a:pt x="1136650" y="0"/>
                    <a:pt x="2540000" y="0"/>
                  </a:cubicBezTo>
                  <a:lnTo>
                    <a:pt x="3810000" y="0"/>
                  </a:lnTo>
                  <a:cubicBezTo>
                    <a:pt x="5213350" y="0"/>
                    <a:pt x="6350000" y="1136650"/>
                    <a:pt x="6350000" y="2540000"/>
                  </a:cubicBezTo>
                  <a:lnTo>
                    <a:pt x="6350000" y="3810000"/>
                  </a:lnTo>
                  <a:cubicBezTo>
                    <a:pt x="6350000" y="5213350"/>
                    <a:pt x="5213350" y="6350000"/>
                    <a:pt x="3810000" y="635000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845888" y="3799467"/>
            <a:ext cx="2688066" cy="2688066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810000" y="6350000"/>
                  </a:moveTo>
                  <a:lnTo>
                    <a:pt x="2540000" y="6350000"/>
                  </a:lnTo>
                  <a:cubicBezTo>
                    <a:pt x="1136650" y="6350000"/>
                    <a:pt x="0" y="5213350"/>
                    <a:pt x="0" y="3810000"/>
                  </a:cubicBezTo>
                  <a:lnTo>
                    <a:pt x="0" y="2540000"/>
                  </a:lnTo>
                  <a:cubicBezTo>
                    <a:pt x="0" y="1136650"/>
                    <a:pt x="1136650" y="0"/>
                    <a:pt x="2540000" y="0"/>
                  </a:cubicBezTo>
                  <a:lnTo>
                    <a:pt x="3810000" y="0"/>
                  </a:lnTo>
                  <a:cubicBezTo>
                    <a:pt x="5213350" y="0"/>
                    <a:pt x="6350000" y="1136650"/>
                    <a:pt x="6350000" y="2540000"/>
                  </a:cubicBezTo>
                  <a:lnTo>
                    <a:pt x="6350000" y="3810000"/>
                  </a:lnTo>
                  <a:cubicBezTo>
                    <a:pt x="6350000" y="5213350"/>
                    <a:pt x="5213350" y="6350000"/>
                    <a:pt x="38100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49267" t="-108500" r="-50597" b="-11085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077004" y="3799467"/>
            <a:ext cx="2688066" cy="2688066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810000" y="6350000"/>
                  </a:moveTo>
                  <a:lnTo>
                    <a:pt x="2540000" y="6350000"/>
                  </a:lnTo>
                  <a:cubicBezTo>
                    <a:pt x="1136650" y="6350000"/>
                    <a:pt x="0" y="5213350"/>
                    <a:pt x="0" y="3810000"/>
                  </a:cubicBezTo>
                  <a:lnTo>
                    <a:pt x="0" y="2540000"/>
                  </a:lnTo>
                  <a:cubicBezTo>
                    <a:pt x="0" y="1136650"/>
                    <a:pt x="1136650" y="0"/>
                    <a:pt x="2540000" y="0"/>
                  </a:cubicBezTo>
                  <a:lnTo>
                    <a:pt x="3810000" y="0"/>
                  </a:lnTo>
                  <a:cubicBezTo>
                    <a:pt x="5213350" y="0"/>
                    <a:pt x="6350000" y="1136650"/>
                    <a:pt x="6350000" y="2540000"/>
                  </a:cubicBezTo>
                  <a:lnTo>
                    <a:pt x="6350000" y="3810000"/>
                  </a:lnTo>
                  <a:cubicBezTo>
                    <a:pt x="6350000" y="5213350"/>
                    <a:pt x="5213350" y="6350000"/>
                    <a:pt x="3810000" y="6350000"/>
                  </a:cubicBezTo>
                  <a:close/>
                </a:path>
              </a:pathLst>
            </a:custGeom>
            <a:blipFill>
              <a:blip r:embed="rId7"/>
              <a:stretch>
                <a:fillRect l="0" t="-16666" r="0" b="-16666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305673" y="900941"/>
            <a:ext cx="11109142" cy="140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76"/>
              </a:lnSpc>
            </a:pPr>
            <a:r>
              <a:rPr lang="en-US" b="true" sz="11418" spc="-685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Bizning Jamoa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8779" y="6878605"/>
            <a:ext cx="4349622" cy="204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9"/>
              </a:lnSpc>
            </a:pPr>
            <a:r>
              <a:rPr lang="en-US" b="true" sz="2942" spc="-1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Ollonazarov Adhamjon.</a:t>
            </a:r>
          </a:p>
          <a:p>
            <a:pPr algn="ctr">
              <a:lnSpc>
                <a:spcPts val="4119"/>
              </a:lnSpc>
            </a:pPr>
            <a:r>
              <a:rPr lang="en-US" b="true" sz="2942" spc="-1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dasturchi 2 yil  </a:t>
            </a:r>
          </a:p>
          <a:p>
            <a:pPr algn="ctr">
              <a:lnSpc>
                <a:spcPts val="4119"/>
              </a:lnSpc>
            </a:pPr>
            <a:r>
              <a:rPr lang="en-US" b="true" sz="2942" spc="-1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agent engeener. </a:t>
            </a:r>
          </a:p>
          <a:p>
            <a:pPr algn="ctr">
              <a:lnSpc>
                <a:spcPts val="4119"/>
              </a:lnSpc>
              <a:spcBef>
                <a:spcPct val="0"/>
              </a:spcBef>
            </a:pPr>
            <a:r>
              <a:rPr lang="en-US" b="true" sz="2942" spc="-1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Faunder of Delivro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76445" y="6778357"/>
            <a:ext cx="3826952" cy="2692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7"/>
              </a:lnSpc>
            </a:pPr>
            <a:r>
              <a:rPr lang="en-US" b="true" sz="3105" spc="-18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Doniyorbek</a:t>
            </a:r>
          </a:p>
          <a:p>
            <a:pPr algn="ctr">
              <a:lnSpc>
                <a:spcPts val="4347"/>
              </a:lnSpc>
            </a:pPr>
            <a:r>
              <a:rPr lang="en-US" b="true" sz="3105" spc="-18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Xasanov </a:t>
            </a:r>
          </a:p>
          <a:p>
            <a:pPr algn="ctr">
              <a:lnSpc>
                <a:spcPts val="4347"/>
              </a:lnSpc>
            </a:pPr>
            <a:r>
              <a:rPr lang="en-US" b="true" sz="3105" spc="-18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ML engineer </a:t>
            </a:r>
          </a:p>
          <a:p>
            <a:pPr algn="ctr">
              <a:lnSpc>
                <a:spcPts val="4347"/>
              </a:lnSpc>
              <a:spcBef>
                <a:spcPct val="0"/>
              </a:spcBef>
            </a:pPr>
            <a:r>
              <a:rPr lang="en-US" b="true" sz="3105" spc="-18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bussiness va moliya analytik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00620" y="6778357"/>
            <a:ext cx="3489603" cy="214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7"/>
              </a:lnSpc>
            </a:pPr>
            <a:r>
              <a:rPr lang="en-US" b="true" sz="3105" spc="-18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Ergasheva  Marjona </a:t>
            </a:r>
          </a:p>
          <a:p>
            <a:pPr algn="ctr">
              <a:lnSpc>
                <a:spcPts val="4347"/>
              </a:lnSpc>
            </a:pPr>
            <a:r>
              <a:rPr lang="en-US" b="true" sz="3105" spc="-18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marketolog </a:t>
            </a:r>
          </a:p>
          <a:p>
            <a:pPr algn="ctr">
              <a:lnSpc>
                <a:spcPts val="4347"/>
              </a:lnSpc>
            </a:pPr>
            <a:r>
              <a:rPr lang="en-US" b="true" sz="3105" spc="-18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graffik designer</a:t>
            </a:r>
          </a:p>
          <a:p>
            <a:pPr algn="ctr">
              <a:lnSpc>
                <a:spcPts val="4347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3746526" y="6778357"/>
            <a:ext cx="3633639" cy="214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7"/>
              </a:lnSpc>
            </a:pPr>
            <a:r>
              <a:rPr lang="en-US" b="true" sz="3105" spc="-18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Omonboyeva Asaloy</a:t>
            </a:r>
          </a:p>
          <a:p>
            <a:pPr algn="ctr">
              <a:lnSpc>
                <a:spcPts val="4347"/>
              </a:lnSpc>
            </a:pPr>
            <a:r>
              <a:rPr lang="en-US" b="true" sz="3105" spc="-18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field expert</a:t>
            </a:r>
          </a:p>
          <a:p>
            <a:pPr algn="ctr">
              <a:lnSpc>
                <a:spcPts val="4347"/>
              </a:lnSpc>
            </a:pPr>
            <a:r>
              <a:rPr lang="en-US" b="true" sz="3105" spc="-18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speaker</a:t>
            </a:r>
          </a:p>
          <a:p>
            <a:pPr algn="ctr">
              <a:lnSpc>
                <a:spcPts val="434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18463" t="0" r="-17246" b="-609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25570" y="3576956"/>
            <a:ext cx="1389241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BUSSY bilan qoling!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437557" cy="1437557"/>
          </a:xfrm>
          <a:custGeom>
            <a:avLst/>
            <a:gdLst/>
            <a:ahLst/>
            <a:cxnLst/>
            <a:rect r="r" b="b" t="t" l="l"/>
            <a:pathLst>
              <a:path h="1437557" w="1437557">
                <a:moveTo>
                  <a:pt x="0" y="0"/>
                </a:moveTo>
                <a:lnTo>
                  <a:pt x="1437557" y="0"/>
                </a:lnTo>
                <a:lnTo>
                  <a:pt x="1437557" y="1437557"/>
                </a:lnTo>
                <a:lnTo>
                  <a:pt x="0" y="14375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DAHVi9KQ8xc</dc:identifier>
  <dcterms:modified xsi:type="dcterms:W3CDTF">2011-08-01T06:04:30Z</dcterms:modified>
  <cp:revision>1</cp:revision>
  <dc:title>BUSSY</dc:title>
</cp:coreProperties>
</file>