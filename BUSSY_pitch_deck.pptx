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2377440"/>
            <a:ext cx="10058400" cy="10058400"/>
          </a:xfrm>
          <a:prstGeom prst="ellipse">
            <a:avLst/>
          </a:prstGeom>
          <a:solidFill>
            <a:srgbClr val="E4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435840" y="1005840"/>
            <a:ext cx="4754880" cy="4754880"/>
          </a:xfrm>
          <a:prstGeom prst="ellipse">
            <a:avLst/>
          </a:prstGeom>
          <a:solidFill>
            <a:srgbClr val="DAE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5880" y="1325880"/>
            <a:ext cx="4114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926080"/>
            <a:ext cx="10058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0E1B4E"/>
                </a:solidFill>
                <a:latin typeface="Segoe UI Semibold"/>
              </a:rPr>
              <a:t>BUSSY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5715000"/>
            <a:ext cx="2194560" cy="64008"/>
          </a:xfrm>
          <a:prstGeom prst="rect">
            <a:avLst/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62636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46587A"/>
                </a:solidFill>
                <a:latin typeface="Segoe UI Light"/>
              </a:rPr>
              <a:t>AI-powered Business Manager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7863840"/>
            <a:ext cx="4114800" cy="7863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4FE0"/>
                </a:solidFill>
                <a:latin typeface="Segoe UI"/>
              </a:rPr>
              <a:t>Turkiston jamoasi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777240"/>
            <a:ext cx="14630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E1B4E"/>
                </a:solidFill>
                <a:latin typeface="Segoe UI Semibold"/>
              </a:rPr>
              <a:t>Muammo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1947672"/>
            <a:ext cx="1234440" cy="50292"/>
          </a:xfrm>
          <a:prstGeom prst="rect">
            <a:avLst/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560320"/>
            <a:ext cx="8321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6587A"/>
                </a:solidFill>
                <a:latin typeface="Segoe UI"/>
              </a:rPr>
              <a:t>Kichik va o‘rta biznes (KOB) tadbirkorlarida moliyaviy bilim va amaliy ko‘nikmalar yetishmasligi sabab: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3977639"/>
            <a:ext cx="83210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4160520"/>
            <a:ext cx="54864" cy="640080"/>
          </a:xfrm>
          <a:prstGeom prst="rect">
            <a:avLst/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3977639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E1B4E"/>
                </a:solidFill>
                <a:latin typeface="Segoe UI Semibold"/>
              </a:rPr>
              <a:t>Biznes-reja tuzish murakkab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12079"/>
            <a:ext cx="83210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5394959"/>
            <a:ext cx="54864" cy="640080"/>
          </a:xfrm>
          <a:prstGeom prst="rect">
            <a:avLst/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5212079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E1B4E"/>
                </a:solidFill>
                <a:latin typeface="Segoe UI Semibold"/>
              </a:rPr>
              <a:t>Kredit olish jarayoni tushunarsiz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6446520"/>
            <a:ext cx="83210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6629400"/>
            <a:ext cx="54864" cy="640080"/>
          </a:xfrm>
          <a:prstGeom prst="rect">
            <a:avLst/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6446520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E1B4E"/>
                </a:solidFill>
                <a:latin typeface="Segoe UI Semibold"/>
              </a:rPr>
              <a:t>Soliq va majburiy to‘lovlar bo‘yicha noaniqlik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7680960"/>
            <a:ext cx="83210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3000" y="7863840"/>
            <a:ext cx="54864" cy="640080"/>
          </a:xfrm>
          <a:prstGeom prst="rect">
            <a:avLst/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7680960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E1B4E"/>
                </a:solidFill>
                <a:latin typeface="Segoe UI Semibold"/>
              </a:rPr>
              <a:t>Bozor haqida yetarli ma’lumot yo‘q</a:t>
            </a:r>
          </a:p>
        </p:txBody>
      </p:sp>
      <p:pic>
        <p:nvPicPr>
          <p:cNvPr id="18" name="Picture 17" descr="p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697480"/>
            <a:ext cx="5779008" cy="3246120"/>
          </a:xfrm>
          <a:prstGeom prst="rect">
            <a:avLst/>
          </a:prstGeom>
        </p:spPr>
      </p:pic>
      <p:pic>
        <p:nvPicPr>
          <p:cNvPr id="19" name="Picture 18" descr="ph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217920"/>
            <a:ext cx="5779008" cy="324612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143000" y="9354312"/>
            <a:ext cx="16002000" cy="10972"/>
          </a:xfrm>
          <a:prstGeom prst="rect">
            <a:avLst/>
          </a:prstGeom>
          <a:solidFill>
            <a:srgbClr val="DC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9537192"/>
            <a:ext cx="9144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spc="80">
                <a:solidFill>
                  <a:srgbClr val="95A6C2"/>
                </a:solidFill>
                <a:latin typeface="Segoe UI"/>
              </a:rPr>
              <a:t>BUSSY  ·  AI-powered Business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01800" y="953719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95A6C2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777240"/>
            <a:ext cx="14630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E1B4E"/>
                </a:solidFill>
                <a:latin typeface="Segoe UI Semibold"/>
              </a:rPr>
              <a:t>Statistika va dalillar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1947672"/>
            <a:ext cx="1234440" cy="50292"/>
          </a:xfrm>
          <a:prstGeom prst="rect">
            <a:avLst/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064507" y="2231136"/>
            <a:ext cx="10158984" cy="700430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79" y="2578608"/>
            <a:ext cx="9464040" cy="6309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43000" y="9354312"/>
            <a:ext cx="16002000" cy="10972"/>
          </a:xfrm>
          <a:prstGeom prst="rect">
            <a:avLst/>
          </a:prstGeom>
          <a:solidFill>
            <a:srgbClr val="DC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9537192"/>
            <a:ext cx="9144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spc="80">
                <a:solidFill>
                  <a:srgbClr val="95A6C2"/>
                </a:solidFill>
                <a:latin typeface="Segoe UI"/>
              </a:rPr>
              <a:t>BUSSY  ·  AI-powered Business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1800" y="953719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95A6C2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777240"/>
            <a:ext cx="14630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E1B4E"/>
                </a:solidFill>
                <a:latin typeface="Segoe UI Semibold"/>
              </a:rPr>
              <a:t>Bizning innovative yechim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1947672"/>
            <a:ext cx="1234440" cy="50292"/>
          </a:xfrm>
          <a:prstGeom prst="rect">
            <a:avLst/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2697479"/>
            <a:ext cx="713232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3291839"/>
            <a:ext cx="265176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" y="6309359"/>
            <a:ext cx="7132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E1B4E"/>
                </a:solidFill>
                <a:latin typeface="Segoe UI Semibold"/>
              </a:rPr>
              <a:t>BUSSY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3108960"/>
            <a:ext cx="80010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46587A"/>
                </a:solidFill>
                <a:latin typeface="Segoe UI"/>
              </a:rPr>
              <a:t>O‘zbekistonning kichik va o‘rta bizneslari uchun moliyaviy tahlil, soliq, kredit va sug‘urta masalalarini AI yordamida soddalashtirib, biznes uchun to‘g‘ri qarorlar qabul qilishga yordam berish.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0" y="6355080"/>
            <a:ext cx="1005840" cy="50292"/>
          </a:xfrm>
          <a:prstGeom prst="rect">
            <a:avLst/>
          </a:prstGeom>
          <a:solidFill>
            <a:srgbClr val="23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6720840"/>
            <a:ext cx="8001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spc="120">
                <a:solidFill>
                  <a:srgbClr val="1F4FE0"/>
                </a:solidFill>
                <a:latin typeface="Segoe UI"/>
              </a:rPr>
              <a:t>AI · Moliya · Soliq · Kredit · Sug‘urta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9354312"/>
            <a:ext cx="16002000" cy="10972"/>
          </a:xfrm>
          <a:prstGeom prst="rect">
            <a:avLst/>
          </a:prstGeom>
          <a:solidFill>
            <a:srgbClr val="DC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9537192"/>
            <a:ext cx="9144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spc="80">
                <a:solidFill>
                  <a:srgbClr val="95A6C2"/>
                </a:solidFill>
                <a:latin typeface="Segoe UI"/>
              </a:rPr>
              <a:t>BUSSY  ·  AI-powered Business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1800" y="953719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95A6C2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640080"/>
            <a:ext cx="14630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E1B4E"/>
                </a:solidFill>
                <a:latin typeface="Segoe UI Semibold"/>
              </a:rPr>
              <a:t>Bizning afzalliklarimiz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1810512"/>
            <a:ext cx="1234440" cy="50292"/>
          </a:xfrm>
          <a:prstGeom prst="rect">
            <a:avLst/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77440"/>
            <a:ext cx="15727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6587A"/>
                </a:solidFill>
                <a:latin typeface="Segoe UI"/>
              </a:rPr>
              <a:t>Bizning boshqalardan asosiy farqimiz — O‘zbekiston bozori va qonunchiligiga moslashtirilgan AI platforma bo‘lib, biznes ma’lumotlarini tahlil qilib, mahalliy soliq, moliya va bozor sharoitiga mos individual tavsiyalar beradi.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03556" y="3172968"/>
            <a:ext cx="10280887" cy="608990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028" y="3520439"/>
            <a:ext cx="9585943" cy="5394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43000" y="9354312"/>
            <a:ext cx="16002000" cy="10972"/>
          </a:xfrm>
          <a:prstGeom prst="rect">
            <a:avLst/>
          </a:prstGeom>
          <a:solidFill>
            <a:srgbClr val="DC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9537192"/>
            <a:ext cx="9144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spc="80">
                <a:solidFill>
                  <a:srgbClr val="95A6C2"/>
                </a:solidFill>
                <a:latin typeface="Segoe UI"/>
              </a:rPr>
              <a:t>BUSSY  ·  AI-powered Business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01800" y="953719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95A6C2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777240"/>
            <a:ext cx="14630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E1B4E"/>
                </a:solidFill>
                <a:latin typeface="Segoe UI Semibold"/>
              </a:rPr>
              <a:t>Ijtimoiy va iqtisodiy ta’sir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1947672"/>
            <a:ext cx="1234440" cy="50292"/>
          </a:xfrm>
          <a:prstGeom prst="rect">
            <a:avLst/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60760" y="2231136"/>
            <a:ext cx="14566479" cy="700430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232" y="2578608"/>
            <a:ext cx="13871535" cy="6309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43000" y="9354312"/>
            <a:ext cx="16002000" cy="10972"/>
          </a:xfrm>
          <a:prstGeom prst="rect">
            <a:avLst/>
          </a:prstGeom>
          <a:solidFill>
            <a:srgbClr val="DC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9537192"/>
            <a:ext cx="9144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spc="80">
                <a:solidFill>
                  <a:srgbClr val="95A6C2"/>
                </a:solidFill>
                <a:latin typeface="Segoe UI"/>
              </a:rPr>
              <a:t>BUSSY  ·  AI-powered Business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1800" y="953719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95A6C2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777240"/>
            <a:ext cx="14630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E1B4E"/>
                </a:solidFill>
                <a:latin typeface="Segoe UI Semibold"/>
              </a:rPr>
              <a:t>Bozor hajmi:  TAM · SAM · SOM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1947672"/>
            <a:ext cx="1234440" cy="50292"/>
          </a:xfrm>
          <a:prstGeom prst="rect">
            <a:avLst/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1640" y="3337559"/>
            <a:ext cx="5760720" cy="5760720"/>
          </a:xfrm>
          <a:prstGeom prst="ellipse">
            <a:avLst/>
          </a:prstGeom>
          <a:solidFill>
            <a:srgbClr val="DD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14600" y="4983479"/>
            <a:ext cx="4114800" cy="4114800"/>
          </a:xfrm>
          <a:prstGeom prst="ellipse">
            <a:avLst/>
          </a:prstGeom>
          <a:solidFill>
            <a:srgbClr val="A9C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383280" y="6720840"/>
            <a:ext cx="2377440" cy="2377440"/>
          </a:xfrm>
          <a:prstGeom prst="ellipse">
            <a:avLst/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3657599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E1B4E"/>
                </a:solidFill>
                <a:latin typeface="Segoe UI Semibold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303519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63A"/>
                </a:solidFill>
                <a:latin typeface="Segoe UI Semibold"/>
              </a:rP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7498079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Segoe UI Semibold"/>
              </a:rPr>
              <a:t>SOM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2971800"/>
            <a:ext cx="809244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52560" y="3383280"/>
            <a:ext cx="68580" cy="1005840"/>
          </a:xfrm>
          <a:prstGeom prst="rect">
            <a:avLst/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09760" y="3355848"/>
            <a:ext cx="1234440" cy="530352"/>
          </a:xfrm>
          <a:prstGeom prst="roundRect">
            <a:avLst>
              <a:gd name="adj" fmla="val 50000"/>
            </a:avLst>
          </a:prstGeom>
          <a:solidFill>
            <a:srgbClr val="DD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1B4E"/>
                </a:solidFill>
                <a:latin typeface="Segoe UI"/>
              </a:rPr>
              <a:t>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3355848"/>
            <a:ext cx="56235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6587A"/>
                </a:solidFill>
                <a:latin typeface="Segoe UI"/>
              </a:rPr>
              <a:t>KOB subyektlari: 1.2 M  ·  standart oylik to‘lov $20/oy × 12 = $240/yil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4069080"/>
            <a:ext cx="7178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E1B4E"/>
                </a:solidFill>
                <a:latin typeface="Segoe UI Semibold"/>
              </a:rPr>
              <a:t>TAM = 1.2M × $240 ≈ $296,7 mln/yil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5212080"/>
            <a:ext cx="809244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5623560"/>
            <a:ext cx="68580" cy="1005840"/>
          </a:xfrm>
          <a:prstGeom prst="rect">
            <a:avLst/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09760" y="5596128"/>
            <a:ext cx="1234440" cy="530352"/>
          </a:xfrm>
          <a:prstGeom prst="roundRect">
            <a:avLst>
              <a:gd name="adj" fmla="val 50000"/>
            </a:avLst>
          </a:prstGeom>
          <a:solidFill>
            <a:srgbClr val="A9C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163A"/>
                </a:solidFill>
                <a:latin typeface="Segoe UI"/>
              </a:rPr>
              <a:t>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5596128"/>
            <a:ext cx="56235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6587A"/>
                </a:solidFill>
                <a:latin typeface="Segoe UI"/>
              </a:rPr>
              <a:t>Yosh tadbirkorlar va biznesmenlar: ~430 000 ta  (KOB ~35%)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6309360"/>
            <a:ext cx="7178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E1B4E"/>
                </a:solidFill>
                <a:latin typeface="Segoe UI Semibold"/>
              </a:rPr>
              <a:t>SAM = 430 000 × $240 ≈ $103,2 mln/yil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7452360"/>
            <a:ext cx="809244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7863840"/>
            <a:ext cx="68580" cy="1005840"/>
          </a:xfrm>
          <a:prstGeom prst="rect">
            <a:avLst/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09760" y="7836408"/>
            <a:ext cx="1234440" cy="530352"/>
          </a:xfrm>
          <a:prstGeom prst="roundRect">
            <a:avLst>
              <a:gd name="adj" fmla="val 50000"/>
            </a:avLst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SOM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7836408"/>
            <a:ext cx="56235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6587A"/>
                </a:solidFill>
                <a:latin typeface="Segoe UI"/>
              </a:rPr>
              <a:t>Dastlabki bozor: ~3 000 ta mijoz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8549640"/>
            <a:ext cx="7178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E1B4E"/>
                </a:solidFill>
                <a:latin typeface="Segoe UI Semibold"/>
              </a:rPr>
              <a:t>SOM = 3 000 × $240 = $720 000/yil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9354312"/>
            <a:ext cx="16002000" cy="10972"/>
          </a:xfrm>
          <a:prstGeom prst="rect">
            <a:avLst/>
          </a:prstGeom>
          <a:solidFill>
            <a:srgbClr val="DC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9537192"/>
            <a:ext cx="9144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spc="80">
                <a:solidFill>
                  <a:srgbClr val="95A6C2"/>
                </a:solidFill>
                <a:latin typeface="Segoe UI"/>
              </a:rPr>
              <a:t>BUSSY  ·  AI-powered Business Manager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01800" y="953719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95A6C2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777240"/>
            <a:ext cx="14630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E1B4E"/>
                </a:solidFill>
                <a:latin typeface="Segoe UI Semibold"/>
              </a:rPr>
              <a:t>Bozor hajmi va moliyaviy ko‘rsatkichlar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1947672"/>
            <a:ext cx="1234440" cy="50292"/>
          </a:xfrm>
          <a:prstGeom prst="rect">
            <a:avLst/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91187" y="2231136"/>
            <a:ext cx="11905624" cy="700430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659" y="2578608"/>
            <a:ext cx="11210680" cy="6309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43000" y="9354312"/>
            <a:ext cx="16002000" cy="10972"/>
          </a:xfrm>
          <a:prstGeom prst="rect">
            <a:avLst/>
          </a:prstGeom>
          <a:solidFill>
            <a:srgbClr val="DC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9537192"/>
            <a:ext cx="9144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spc="80">
                <a:solidFill>
                  <a:srgbClr val="95A6C2"/>
                </a:solidFill>
                <a:latin typeface="Segoe UI"/>
              </a:rPr>
              <a:t>BUSSY  ·  AI-powered Business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1800" y="953719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95A6C2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777240"/>
            <a:ext cx="14630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E1B4E"/>
                </a:solidFill>
                <a:latin typeface="Segoe UI Semibold"/>
              </a:rPr>
              <a:t>Yo‘l xaritasi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1947672"/>
            <a:ext cx="1234440" cy="50292"/>
          </a:xfrm>
          <a:prstGeom prst="rect">
            <a:avLst/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92769" y="2231136"/>
            <a:ext cx="12502460" cy="700430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241" y="2578608"/>
            <a:ext cx="11807516" cy="6309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43000" y="9354312"/>
            <a:ext cx="16002000" cy="10972"/>
          </a:xfrm>
          <a:prstGeom prst="rect">
            <a:avLst/>
          </a:prstGeom>
          <a:solidFill>
            <a:srgbClr val="DC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9537192"/>
            <a:ext cx="9144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spc="80">
                <a:solidFill>
                  <a:srgbClr val="95A6C2"/>
                </a:solidFill>
                <a:latin typeface="Segoe UI"/>
              </a:rPr>
              <a:t>BUSSY  ·  AI-powered Business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1800" y="953719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95A6C2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777240"/>
            <a:ext cx="14630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E1B4E"/>
                </a:solidFill>
                <a:latin typeface="Segoe UI Semibold"/>
              </a:rPr>
              <a:t>Bizning jamoa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1947672"/>
            <a:ext cx="1234440" cy="50292"/>
          </a:xfrm>
          <a:prstGeom prst="rect">
            <a:avLst/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2834639"/>
            <a:ext cx="3657600" cy="5212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28216" y="3282696"/>
            <a:ext cx="2487168" cy="2487168"/>
          </a:xfrm>
          <a:prstGeom prst="ellipse">
            <a:avLst/>
          </a:prstGeom>
          <a:solidFill>
            <a:srgbClr val="E2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_adh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3337560"/>
            <a:ext cx="237744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17320" y="60807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E1B4E"/>
                </a:solidFill>
                <a:latin typeface="Segoe UI Semibold"/>
              </a:rPr>
              <a:t>Ollonazarov Adhamjon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694944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6587A"/>
                </a:solidFill>
                <a:latin typeface="Segoe UI"/>
              </a:rPr>
              <a:t>dasturchi, 2 yil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6587A"/>
                </a:solidFill>
                <a:latin typeface="Segoe UI"/>
              </a:rPr>
              <a:t>agent engeener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6587A"/>
                </a:solidFill>
                <a:latin typeface="Segoe UI"/>
              </a:rPr>
              <a:t>Faunder of Delivro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2834639"/>
            <a:ext cx="3657600" cy="5212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43016" y="3282696"/>
            <a:ext cx="2487168" cy="2487168"/>
          </a:xfrm>
          <a:prstGeom prst="ellipse">
            <a:avLst/>
          </a:prstGeom>
          <a:solidFill>
            <a:srgbClr val="E2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_doniy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3337560"/>
            <a:ext cx="2377440" cy="2377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32120" y="60807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E1B4E"/>
                </a:solidFill>
                <a:latin typeface="Segoe UI Semibold"/>
              </a:rPr>
              <a:t>Doniyorbek Xasanov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694944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6587A"/>
                </a:solidFill>
                <a:latin typeface="Segoe UI"/>
              </a:rPr>
              <a:t>ML engineer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6587A"/>
                </a:solidFill>
                <a:latin typeface="Segoe UI"/>
              </a:rPr>
              <a:t>bussiness va moliya analytik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2834639"/>
            <a:ext cx="3657600" cy="5212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57816" y="3282696"/>
            <a:ext cx="2487168" cy="2487168"/>
          </a:xfrm>
          <a:prstGeom prst="ellipse">
            <a:avLst/>
          </a:prstGeom>
          <a:solidFill>
            <a:srgbClr val="E2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_marjo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3337560"/>
            <a:ext cx="2377440" cy="23774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46920" y="60807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E1B4E"/>
                </a:solidFill>
                <a:latin typeface="Segoe UI Semibold"/>
              </a:rPr>
              <a:t>Ergasheva Marjona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694944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6587A"/>
                </a:solidFill>
                <a:latin typeface="Segoe UI"/>
              </a:rPr>
              <a:t>marketolog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6587A"/>
                </a:solidFill>
                <a:latin typeface="Segoe UI"/>
              </a:rPr>
              <a:t>graffik designer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87400" y="2834639"/>
            <a:ext cx="3657600" cy="5212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4072616" y="3282696"/>
            <a:ext cx="2487168" cy="2487168"/>
          </a:xfrm>
          <a:prstGeom prst="ellipse">
            <a:avLst/>
          </a:prstGeom>
          <a:solidFill>
            <a:srgbClr val="E2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_asalo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27480" y="3337560"/>
            <a:ext cx="2377440" cy="23774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761720" y="60807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E1B4E"/>
                </a:solidFill>
                <a:latin typeface="Segoe UI Semibold"/>
              </a:rPr>
              <a:t>Omonboyeva Asaloy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61720" y="694944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6587A"/>
                </a:solidFill>
                <a:latin typeface="Segoe UI"/>
              </a:rPr>
              <a:t>field expert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6587A"/>
                </a:solidFill>
                <a:latin typeface="Segoe UI"/>
              </a:rPr>
              <a:t>speaker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9354312"/>
            <a:ext cx="16002000" cy="10972"/>
          </a:xfrm>
          <a:prstGeom prst="rect">
            <a:avLst/>
          </a:prstGeom>
          <a:solidFill>
            <a:srgbClr val="DC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9537192"/>
            <a:ext cx="9144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spc="80">
                <a:solidFill>
                  <a:srgbClr val="95A6C2"/>
                </a:solidFill>
                <a:latin typeface="Segoe UI"/>
              </a:rPr>
              <a:t>BUSSY  ·  AI-powered Business Manager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01800" y="953719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95A6C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0" y="-3840480"/>
            <a:ext cx="10058400" cy="10058400"/>
          </a:xfrm>
          <a:prstGeom prst="ellipse">
            <a:avLst/>
          </a:prstGeom>
          <a:solidFill>
            <a:srgbClr val="E4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0" y="6080760"/>
            <a:ext cx="8686800" cy="8686800"/>
          </a:xfrm>
          <a:prstGeom prst="ellipse">
            <a:avLst/>
          </a:prstGeom>
          <a:solidFill>
            <a:srgbClr val="E4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2240280"/>
            <a:ext cx="2834640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0" y="5623560"/>
            <a:ext cx="1463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0E1B4E"/>
                </a:solidFill>
                <a:latin typeface="Segoe UI Semibold"/>
              </a:rPr>
              <a:t>BUSSY bilan qoling!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7452360"/>
            <a:ext cx="2194560" cy="64008"/>
          </a:xfrm>
          <a:prstGeom prst="rect">
            <a:avLst/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7909560"/>
            <a:ext cx="1463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46587A"/>
                </a:solidFill>
                <a:latin typeface="Segoe UI Light"/>
              </a:rPr>
              <a:t>AI-powered Business Manager  ·  Turkiston jamoasi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